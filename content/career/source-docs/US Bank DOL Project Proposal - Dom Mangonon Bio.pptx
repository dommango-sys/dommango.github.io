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3" d="100"/>
          <a:sy n="73" d="100"/>
        </p:scale>
        <p:origin x="53"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78922311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609600" y="1917701"/>
            <a:ext cx="10972800" cy="4025899"/>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2"/>
          <p:cNvSpPr>
            <a:spLocks noGrp="1"/>
          </p:cNvSpPr>
          <p:nvPr>
            <p:ph type="body" idx="10"/>
          </p:nvPr>
        </p:nvSpPr>
        <p:spPr>
          <a:xfrm>
            <a:off x="609600" y="1143000"/>
            <a:ext cx="109728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Tree>
    <p:extLst>
      <p:ext uri="{BB962C8B-B14F-4D97-AF65-F5344CB8AC3E}">
        <p14:creationId xmlns:p14="http://schemas.microsoft.com/office/powerpoint/2010/main" val="278582857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6197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7126636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143000"/>
            <a:ext cx="109728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9600" y="1916113"/>
            <a:ext cx="5386917"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4"/>
          </p:nvPr>
        </p:nvSpPr>
        <p:spPr>
          <a:xfrm>
            <a:off x="6193368" y="1916113"/>
            <a:ext cx="5389033"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37034446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143000"/>
            <a:ext cx="5386917"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9600" y="1916113"/>
            <a:ext cx="5386917"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193368" y="1143000"/>
            <a:ext cx="5389033"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193368" y="1916113"/>
            <a:ext cx="5389033"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2416320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quarter" idx="10"/>
          </p:nvPr>
        </p:nvSpPr>
        <p:spPr>
          <a:xfrm>
            <a:off x="609600" y="1380744"/>
            <a:ext cx="5388864" cy="155448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11"/>
          </p:nvPr>
        </p:nvSpPr>
        <p:spPr>
          <a:xfrm>
            <a:off x="6193536" y="1380744"/>
            <a:ext cx="5388864" cy="155448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Picture Placeholder 4"/>
          <p:cNvSpPr>
            <a:spLocks noGrp="1"/>
          </p:cNvSpPr>
          <p:nvPr>
            <p:ph type="pic" sz="quarter" idx="12"/>
          </p:nvPr>
        </p:nvSpPr>
        <p:spPr>
          <a:xfrm>
            <a:off x="609600" y="3124200"/>
            <a:ext cx="109728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40185981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7008540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9738323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50245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3367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6197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Picture Placeholder 5"/>
          <p:cNvSpPr>
            <a:spLocks noGrp="1"/>
          </p:cNvSpPr>
          <p:nvPr>
            <p:ph type="pic" sz="quarter" idx="10"/>
          </p:nvPr>
        </p:nvSpPr>
        <p:spPr>
          <a:xfrm>
            <a:off x="609600" y="1371600"/>
            <a:ext cx="53848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2800391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143000"/>
            <a:ext cx="109728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9600" y="1916114"/>
            <a:ext cx="5386917"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4"/>
          </p:nvPr>
        </p:nvSpPr>
        <p:spPr>
          <a:xfrm>
            <a:off x="6193368" y="1916114"/>
            <a:ext cx="5389033"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5"/>
          <p:cNvSpPr>
            <a:spLocks noGrp="1"/>
          </p:cNvSpPr>
          <p:nvPr>
            <p:ph sz="quarter" idx="11"/>
          </p:nvPr>
        </p:nvSpPr>
        <p:spPr>
          <a:xfrm>
            <a:off x="594733" y="4049714"/>
            <a:ext cx="10987668"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26519053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143000"/>
            <a:ext cx="5386917"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9600" y="1916114"/>
            <a:ext cx="5386917"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193368" y="1143000"/>
            <a:ext cx="5389033"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193368" y="1916114"/>
            <a:ext cx="5389033"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5"/>
          <p:cNvSpPr>
            <a:spLocks noGrp="1"/>
          </p:cNvSpPr>
          <p:nvPr>
            <p:ph sz="quarter" idx="11"/>
          </p:nvPr>
        </p:nvSpPr>
        <p:spPr>
          <a:xfrm>
            <a:off x="594733" y="4049714"/>
            <a:ext cx="10987668"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5863474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380744"/>
            <a:ext cx="109728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Content Placeholder 2"/>
          <p:cNvSpPr>
            <a:spLocks noGrp="1"/>
          </p:cNvSpPr>
          <p:nvPr>
            <p:ph sz="half" idx="10"/>
          </p:nvPr>
        </p:nvSpPr>
        <p:spPr>
          <a:xfrm>
            <a:off x="609600" y="3646449"/>
            <a:ext cx="109728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96750554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916151"/>
            <a:ext cx="109728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Content Placeholder 2"/>
          <p:cNvSpPr>
            <a:spLocks noGrp="1"/>
          </p:cNvSpPr>
          <p:nvPr>
            <p:ph sz="half" idx="10"/>
          </p:nvPr>
        </p:nvSpPr>
        <p:spPr>
          <a:xfrm>
            <a:off x="609600" y="4332249"/>
            <a:ext cx="109728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ext Placeholder 2"/>
          <p:cNvSpPr>
            <a:spLocks noGrp="1"/>
          </p:cNvSpPr>
          <p:nvPr>
            <p:ph type="body" idx="11"/>
          </p:nvPr>
        </p:nvSpPr>
        <p:spPr>
          <a:xfrm>
            <a:off x="609600" y="1143000"/>
            <a:ext cx="109728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7" name="Text Placeholder 2"/>
          <p:cNvSpPr>
            <a:spLocks noGrp="1"/>
          </p:cNvSpPr>
          <p:nvPr>
            <p:ph type="body" idx="12"/>
          </p:nvPr>
        </p:nvSpPr>
        <p:spPr>
          <a:xfrm>
            <a:off x="609600" y="3584691"/>
            <a:ext cx="109728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Tree>
    <p:extLst>
      <p:ext uri="{BB962C8B-B14F-4D97-AF65-F5344CB8AC3E}">
        <p14:creationId xmlns:p14="http://schemas.microsoft.com/office/powerpoint/2010/main" val="150078776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1_">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04784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9"/>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31" name="think-cell Slide" r:id="rId20" imgW="216" imgH="216" progId="TCLayout.ActiveDocument.1">
                  <p:embed/>
                </p:oleObj>
              </mc:Choice>
              <mc:Fallback>
                <p:oleObj name="think-cell Slide" r:id="rId20" imgW="216" imgH="216" progId="TCLayout.ActiveDocument.1">
                  <p:embed/>
                  <p:pic>
                    <p:nvPicPr>
                      <p:cNvPr id="0" name=""/>
                      <p:cNvPicPr/>
                      <p:nvPr/>
                    </p:nvPicPr>
                    <p:blipFill>
                      <a:blip r:embed="rId21"/>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382751"/>
            <a:ext cx="10972800" cy="4560849"/>
          </a:xfrm>
          <a:prstGeom prst="rect">
            <a:avLst/>
          </a:prstGeom>
        </p:spPr>
        <p:txBody>
          <a:bodyPr vert="horz" lIns="45720" tIns="45720" rIns="45720" bIns="4572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6"/>
          <p:cNvSpPr txBox="1">
            <a:spLocks/>
          </p:cNvSpPr>
          <p:nvPr/>
        </p:nvSpPr>
        <p:spPr>
          <a:xfrm>
            <a:off x="11716005" y="6497366"/>
            <a:ext cx="475995"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sz="900" b="0" smtClean="0">
                <a:solidFill>
                  <a:srgbClr val="4D4D4D"/>
                </a:solidFill>
                <a:latin typeface="Arial" panose="020B0604020202020204" pitchFamily="34" charset="0"/>
                <a:cs typeface="Arial" panose="020B0604020202020204" pitchFamily="34" charset="0"/>
              </a:rPr>
              <a:pPr/>
              <a:t>‹#›</a:t>
            </a:fld>
            <a:endParaRPr lang="en-US" sz="900"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9581388" y="6497366"/>
            <a:ext cx="2042669"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b="0" spc="60" dirty="0" smtClean="0">
                <a:solidFill>
                  <a:srgbClr val="4D4D4D"/>
                </a:solidFill>
                <a:latin typeface="Arial Narrow" panose="020B0606020202030204" pitchFamily="34" charset="0"/>
              </a:rPr>
              <a:t>U.S. BANK</a:t>
            </a:r>
            <a:r>
              <a:rPr lang="en-US" sz="900" b="0" spc="60" dirty="0" smtClean="0">
                <a:latin typeface="Arial Narrow" panose="020B0606020202030204" pitchFamily="34" charset="0"/>
              </a:rPr>
              <a:t>  |</a:t>
            </a:r>
            <a:endParaRPr lang="en-US" sz="900" b="0" spc="60" dirty="0">
              <a:latin typeface="Arial Narrow" panose="020B0606020202030204" pitchFamily="34" charset="0"/>
            </a:endParaRPr>
          </a:p>
        </p:txBody>
      </p:sp>
      <p:sp>
        <p:nvSpPr>
          <p:cNvPr id="13" name="Right Arrow Callout 12"/>
          <p:cNvSpPr/>
          <p:nvPr/>
        </p:nvSpPr>
        <p:spPr>
          <a:xfrm rot="16200000" flipH="1">
            <a:off x="5980053" y="130485"/>
            <a:ext cx="251799" cy="12211848"/>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w="38100">
                <a:solidFill>
                  <a:srgbClr val="0C2074"/>
                </a:solidFill>
              </a:ln>
              <a:solidFill>
                <a:prstClr val="white"/>
              </a:solidFill>
            </a:endParaRPr>
          </a:p>
        </p:txBody>
      </p:sp>
    </p:spTree>
    <p:extLst>
      <p:ext uri="{BB962C8B-B14F-4D97-AF65-F5344CB8AC3E}">
        <p14:creationId xmlns:p14="http://schemas.microsoft.com/office/powerpoint/2010/main" val="6283575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iming>
    <p:tnLst>
      <p:par>
        <p:cTn id="1" dur="indefinite" restart="never" nodeType="tmRoot"/>
      </p:par>
    </p:tnLst>
  </p:timing>
  <p:hf sldNum="0" hdr="0" ftr="0" dt="0"/>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8"/>
          <p:cNvSpPr>
            <a:spLocks noGrp="1"/>
          </p:cNvSpPr>
          <p:nvPr>
            <p:ph type="title"/>
          </p:nvPr>
        </p:nvSpPr>
        <p:spPr>
          <a:xfrm>
            <a:off x="1981200" y="228600"/>
            <a:ext cx="8229600" cy="868362"/>
          </a:xfrm>
        </p:spPr>
        <p:txBody>
          <a:bodyPr anchor="t">
            <a:normAutofit/>
          </a:bodyPr>
          <a:lstStyle/>
          <a:p>
            <a:r>
              <a:rPr lang="en-US" sz="2400" dirty="0"/>
              <a:t>Team Introductions</a:t>
            </a:r>
          </a:p>
        </p:txBody>
      </p:sp>
      <p:graphicFrame>
        <p:nvGraphicFramePr>
          <p:cNvPr id="6" name="Shape 345"/>
          <p:cNvGraphicFramePr/>
          <p:nvPr>
            <p:extLst>
              <p:ext uri="{D42A27DB-BD31-4B8C-83A1-F6EECF244321}">
                <p14:modId xmlns:p14="http://schemas.microsoft.com/office/powerpoint/2010/main" val="3984905041"/>
              </p:ext>
            </p:extLst>
          </p:nvPr>
        </p:nvGraphicFramePr>
        <p:xfrm>
          <a:off x="1981201" y="777079"/>
          <a:ext cx="8201293" cy="3409538"/>
        </p:xfrm>
        <a:graphic>
          <a:graphicData uri="http://schemas.openxmlformats.org/drawingml/2006/table">
            <a:tbl>
              <a:tblPr>
                <a:noFill/>
              </a:tblPr>
              <a:tblGrid>
                <a:gridCol w="1834500"/>
                <a:gridCol w="6366793"/>
              </a:tblGrid>
              <a:tr h="235262">
                <a:tc>
                  <a:txBody>
                    <a:bodyPr/>
                    <a:lstStyle/>
                    <a:p>
                      <a:pPr marL="0" marR="0" lvl="0" indent="0" algn="l" rtl="0">
                        <a:lnSpc>
                          <a:spcPct val="100000"/>
                        </a:lnSpc>
                        <a:spcBef>
                          <a:spcPts val="0"/>
                        </a:spcBef>
                        <a:spcAft>
                          <a:spcPts val="600"/>
                        </a:spcAft>
                        <a:buClr>
                          <a:schemeClr val="dk2"/>
                        </a:buClr>
                        <a:buSzPct val="25000"/>
                        <a:buFont typeface="Arial"/>
                        <a:buNone/>
                      </a:pPr>
                      <a:r>
                        <a:rPr lang="en-US" sz="900" b="1" i="0" u="none" strike="noStrike" cap="none" baseline="0" dirty="0" smtClean="0">
                          <a:solidFill>
                            <a:schemeClr val="dk2"/>
                          </a:solidFill>
                          <a:latin typeface="+mj-lt"/>
                          <a:ea typeface="Georgia"/>
                          <a:cs typeface="Georgia"/>
                          <a:sym typeface="Georgia"/>
                        </a:rPr>
                        <a:t>PwC Professional</a:t>
                      </a:r>
                      <a:endParaRPr lang="en-US" sz="900" b="1" i="0" u="none" strike="noStrike" cap="none" baseline="0" dirty="0">
                        <a:solidFill>
                          <a:schemeClr val="dk2"/>
                        </a:solidFill>
                        <a:latin typeface="+mj-lt"/>
                        <a:ea typeface="Georgia"/>
                        <a:cs typeface="Georgia"/>
                        <a:sym typeface="Georgia"/>
                      </a:endParaRPr>
                    </a:p>
                  </a:txBody>
                  <a:tcPr marL="26620" marR="26620" marT="17738" marB="26620" anchor="ctr">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12700" cap="flat">
                      <a:solidFill>
                        <a:schemeClr val="dk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l" rtl="0">
                        <a:lnSpc>
                          <a:spcPct val="100000"/>
                        </a:lnSpc>
                        <a:spcBef>
                          <a:spcPts val="0"/>
                        </a:spcBef>
                        <a:spcAft>
                          <a:spcPts val="600"/>
                        </a:spcAft>
                        <a:buClr>
                          <a:schemeClr val="dk2"/>
                        </a:buClr>
                        <a:buSzPct val="25000"/>
                        <a:buFont typeface="Arial"/>
                        <a:buNone/>
                      </a:pPr>
                      <a:r>
                        <a:rPr lang="en-US" sz="900" b="1" i="0" u="none" strike="noStrike" cap="none" baseline="0" dirty="0">
                          <a:solidFill>
                            <a:schemeClr val="dk2"/>
                          </a:solidFill>
                          <a:latin typeface="+mj-lt"/>
                          <a:ea typeface="Georgia"/>
                          <a:cs typeface="Georgia"/>
                          <a:sym typeface="Georgia"/>
                        </a:rPr>
                        <a:t>Background and </a:t>
                      </a:r>
                      <a:r>
                        <a:rPr lang="en-US" sz="900" b="1" i="0" u="none" strike="noStrike" cap="none" baseline="0" dirty="0" smtClean="0">
                          <a:solidFill>
                            <a:schemeClr val="dk2"/>
                          </a:solidFill>
                          <a:latin typeface="+mj-lt"/>
                          <a:ea typeface="Georgia"/>
                          <a:cs typeface="Georgia"/>
                          <a:sym typeface="Georgia"/>
                        </a:rPr>
                        <a:t>Experience</a:t>
                      </a:r>
                      <a:endParaRPr lang="en-US" sz="900" b="1" i="0" u="none" strike="noStrike" cap="none" baseline="0" dirty="0">
                        <a:solidFill>
                          <a:schemeClr val="dk2"/>
                        </a:solidFill>
                        <a:latin typeface="+mj-lt"/>
                        <a:ea typeface="Georgia"/>
                        <a:cs typeface="Georgia"/>
                        <a:sym typeface="Georgia"/>
                      </a:endParaRPr>
                    </a:p>
                  </a:txBody>
                  <a:tcPr marL="26620" marR="26620" marT="17738" marB="26620" anchor="ctr">
                    <a:lnL w="9525" cap="flat">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12700" cap="flat">
                      <a:solidFill>
                        <a:schemeClr val="dk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r>
              <a:tr h="3174276">
                <a:tc>
                  <a:txBody>
                    <a:bodyPr/>
                    <a:lstStyle/>
                    <a:p>
                      <a:pPr marL="0" marR="0" lvl="0" indent="0" algn="l" rtl="0">
                        <a:lnSpc>
                          <a:spcPct val="100000"/>
                        </a:lnSpc>
                        <a:spcBef>
                          <a:spcPts val="0"/>
                        </a:spcBef>
                        <a:spcAft>
                          <a:spcPts val="0"/>
                        </a:spcAft>
                        <a:buClr>
                          <a:schemeClr val="dk1"/>
                        </a:buClr>
                        <a:buSzPct val="25000"/>
                        <a:buFont typeface="Arial"/>
                        <a:buNone/>
                      </a:pPr>
                      <a:r>
                        <a:rPr lang="en-US" sz="900" b="1" i="0" u="none" strike="noStrike" cap="none" baseline="0" dirty="0" smtClean="0">
                          <a:solidFill>
                            <a:schemeClr val="dk1"/>
                          </a:solidFill>
                          <a:latin typeface="Georgia"/>
                          <a:ea typeface="Georgia"/>
                          <a:cs typeface="Georgia"/>
                          <a:sym typeface="Georgia"/>
                        </a:rPr>
                        <a:t>Dominic Mangonon</a:t>
                      </a:r>
                      <a:endParaRPr lang="en-US" sz="900" b="1" i="0" u="none" strike="noStrike" cap="none" baseline="0" dirty="0" smtClean="0">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chemeClr val="dk1"/>
                        </a:buClr>
                        <a:buSzPct val="25000"/>
                        <a:buFont typeface="Arial"/>
                        <a:buNone/>
                      </a:pPr>
                      <a:r>
                        <a:rPr lang="en-US" sz="900" b="0" i="0" u="none" strike="noStrike" cap="none" baseline="0" dirty="0" smtClean="0">
                          <a:solidFill>
                            <a:schemeClr val="dk1"/>
                          </a:solidFill>
                          <a:latin typeface="Georgia"/>
                          <a:ea typeface="Georgia"/>
                          <a:cs typeface="Georgia"/>
                          <a:sym typeface="Georgia"/>
                        </a:rPr>
                        <a:t>Senior </a:t>
                      </a:r>
                      <a:r>
                        <a:rPr lang="en-US" sz="900" b="0" i="0" u="none" strike="noStrike" cap="none" baseline="0" dirty="0" smtClean="0">
                          <a:solidFill>
                            <a:schemeClr val="dk1"/>
                          </a:solidFill>
                          <a:latin typeface="Georgia"/>
                          <a:ea typeface="Georgia"/>
                          <a:cs typeface="Georgia"/>
                          <a:sym typeface="Georgia"/>
                        </a:rPr>
                        <a:t>Associate</a:t>
                      </a:r>
                    </a:p>
                    <a:p>
                      <a:pPr marL="0" marR="0" lvl="0" indent="0" algn="l" rtl="0">
                        <a:lnSpc>
                          <a:spcPct val="100000"/>
                        </a:lnSpc>
                        <a:spcBef>
                          <a:spcPts val="0"/>
                        </a:spcBef>
                        <a:spcAft>
                          <a:spcPts val="0"/>
                        </a:spcAft>
                        <a:buClr>
                          <a:schemeClr val="dk1"/>
                        </a:buClr>
                        <a:buSzPct val="25000"/>
                        <a:buFont typeface="Arial"/>
                        <a:buNone/>
                      </a:pPr>
                      <a:endParaRPr lang="en-US" sz="900" b="0" i="0" u="none" strike="noStrike" cap="none" baseline="0" dirty="0" smtClean="0">
                        <a:solidFill>
                          <a:schemeClr val="dk1"/>
                        </a:solidFill>
                        <a:latin typeface="Georgia"/>
                        <a:ea typeface="Georgia"/>
                        <a:cs typeface="Georgia"/>
                        <a:sym typeface="Georgia"/>
                      </a:endParaRPr>
                    </a:p>
                    <a:p>
                      <a:pPr marL="0" marR="0" lvl="0" indent="0" algn="l" rtl="0">
                        <a:lnSpc>
                          <a:spcPct val="100000"/>
                        </a:lnSpc>
                        <a:spcBef>
                          <a:spcPts val="0"/>
                        </a:spcBef>
                        <a:spcAft>
                          <a:spcPts val="0"/>
                        </a:spcAft>
                        <a:buClr>
                          <a:schemeClr val="dk1"/>
                        </a:buClr>
                        <a:buSzPct val="25000"/>
                        <a:buFont typeface="Arial"/>
                        <a:buNone/>
                      </a:pPr>
                      <a:r>
                        <a:rPr lang="en-US" sz="900" b="0" i="0" u="none" strike="noStrike" cap="none" baseline="0" dirty="0" smtClean="0">
                          <a:solidFill>
                            <a:schemeClr val="dk1"/>
                          </a:solidFill>
                          <a:latin typeface="Georgia"/>
                          <a:ea typeface="Georgia"/>
                          <a:cs typeface="Georgia"/>
                          <a:sym typeface="Georgia"/>
                        </a:rPr>
                        <a:t>(312) 428-8186</a:t>
                      </a:r>
                    </a:p>
                    <a:p>
                      <a:pPr marL="0" marR="0" lvl="0" indent="0" algn="l" rtl="0">
                        <a:lnSpc>
                          <a:spcPct val="100000"/>
                        </a:lnSpc>
                        <a:spcBef>
                          <a:spcPts val="0"/>
                        </a:spcBef>
                        <a:spcAft>
                          <a:spcPts val="0"/>
                        </a:spcAft>
                        <a:buClr>
                          <a:schemeClr val="dk1"/>
                        </a:buClr>
                        <a:buSzPct val="25000"/>
                        <a:buFont typeface="Arial"/>
                        <a:buNone/>
                      </a:pPr>
                      <a:endParaRPr lang="en-US" sz="900" b="0" i="0" u="none" strike="noStrike" cap="none" baseline="0" dirty="0" smtClean="0">
                        <a:solidFill>
                          <a:srgbClr val="002060"/>
                        </a:solidFill>
                        <a:latin typeface="Georgia"/>
                        <a:ea typeface="Georgia"/>
                        <a:cs typeface="Georgia"/>
                        <a:sym typeface="Georgia"/>
                      </a:endParaRPr>
                    </a:p>
                    <a:p>
                      <a:pPr marL="0" marR="0" lvl="0" indent="0" algn="l" rtl="0">
                        <a:lnSpc>
                          <a:spcPct val="100000"/>
                        </a:lnSpc>
                        <a:spcBef>
                          <a:spcPts val="0"/>
                        </a:spcBef>
                        <a:spcAft>
                          <a:spcPts val="0"/>
                        </a:spcAft>
                        <a:buClr>
                          <a:schemeClr val="dk1"/>
                        </a:buClr>
                        <a:buSzPct val="25000"/>
                        <a:buFont typeface="Arial"/>
                        <a:buNone/>
                      </a:pPr>
                      <a:r>
                        <a:rPr lang="en-US" sz="900" b="0" i="1" u="sng" strike="noStrike" cap="none" baseline="0" dirty="0" smtClean="0">
                          <a:solidFill>
                            <a:schemeClr val="tx2">
                              <a:lumMod val="50000"/>
                            </a:schemeClr>
                          </a:solidFill>
                          <a:latin typeface="Georgia"/>
                          <a:ea typeface="Georgia"/>
                          <a:cs typeface="Georgia"/>
                          <a:sym typeface="Georgia"/>
                        </a:rPr>
                        <a:t>dominic.a.mangonon@pwc.com</a:t>
                      </a:r>
                    </a:p>
                    <a:p>
                      <a:pPr marL="0" marR="0" lvl="0" indent="0" algn="l" rtl="0">
                        <a:lnSpc>
                          <a:spcPct val="100000"/>
                        </a:lnSpc>
                        <a:spcBef>
                          <a:spcPts val="0"/>
                        </a:spcBef>
                        <a:spcAft>
                          <a:spcPts val="0"/>
                        </a:spcAft>
                        <a:buClr>
                          <a:schemeClr val="dk1"/>
                        </a:buClr>
                        <a:buSzPct val="25000"/>
                        <a:buFont typeface="Arial"/>
                        <a:buNone/>
                      </a:pPr>
                      <a:endParaRPr lang="en-US" sz="900" b="0" i="0" u="none" strike="noStrike" cap="none" baseline="0" dirty="0" smtClean="0">
                        <a:solidFill>
                          <a:schemeClr val="dk1"/>
                        </a:solidFill>
                        <a:latin typeface="Georgia"/>
                        <a:ea typeface="Georgia"/>
                        <a:cs typeface="Georgia"/>
                        <a:sym typeface="Georgia"/>
                      </a:endParaRPr>
                    </a:p>
                  </a:txBody>
                  <a:tcPr marL="26620" marR="26620" marT="17738" marB="26620" anchor="ctr">
                    <a:lnL w="9525" cap="flat" cmpd="sng" algn="ctr">
                      <a:solidFill>
                        <a:srgbClr val="000000">
                          <a:alpha val="0"/>
                        </a:srgbClr>
                      </a:solidFill>
                      <a:prstDash val="solid"/>
                      <a:round/>
                      <a:headEnd type="none" w="med" len="med"/>
                      <a:tailEnd type="none" w="med" len="med"/>
                    </a:lnL>
                    <a:lnR w="9525" cap="flat" cmpd="sng" algn="ctr">
                      <a:solidFill>
                        <a:srgbClr val="000000">
                          <a:alpha val="0"/>
                        </a:srgbClr>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
                          <a:schemeClr val="dk1"/>
                        </a:buClr>
                        <a:buSzPct val="25000"/>
                        <a:buFont typeface="Georgia"/>
                        <a:buNone/>
                        <a:tabLst/>
                        <a:defRPr/>
                      </a:pPr>
                      <a:r>
                        <a:rPr lang="en-US" sz="900" u="none" strike="noStrike" kern="1200" cap="none" baseline="0" dirty="0" smtClean="0">
                          <a:solidFill>
                            <a:schemeClr val="dk1"/>
                          </a:solidFill>
                          <a:latin typeface="+mj-lt"/>
                          <a:ea typeface="Georgia"/>
                          <a:cs typeface="Georgia"/>
                          <a:sym typeface="Georgia"/>
                        </a:rPr>
                        <a:t>Dominic Mangonon is a Senior Associate in the Financial Services Advisory practice. Since joining the firm, Dom has been involved in DOL Fiduciary Rule efforts across a number of clients. Most recently, he completed an impact assessment for a large discount brokerage, where he focused on growth strategies to capture the anticipated money-in-motion resulting from the DOL rule. He also has experience working with enterprise architecture transformations and regulatory change efforts.</a:t>
                      </a:r>
                    </a:p>
                    <a:p>
                      <a:pPr marL="0" marR="0" lvl="1" indent="0" algn="l" defTabSz="914400" rtl="0" eaLnBrk="1" fontAlgn="auto" latinLnBrk="0" hangingPunct="1">
                        <a:lnSpc>
                          <a:spcPct val="100000"/>
                        </a:lnSpc>
                        <a:spcBef>
                          <a:spcPts val="0"/>
                        </a:spcBef>
                        <a:spcAft>
                          <a:spcPts val="0"/>
                        </a:spcAft>
                        <a:buClr>
                          <a:schemeClr val="dk1"/>
                        </a:buClr>
                        <a:buSzPct val="25000"/>
                        <a:buFont typeface="Georgia"/>
                        <a:buNone/>
                        <a:tabLst/>
                        <a:defRPr/>
                      </a:pPr>
                      <a:endParaRPr lang="en-US" sz="900" u="none" strike="noStrike" kern="1200" cap="none" baseline="0" dirty="0" smtClean="0">
                        <a:solidFill>
                          <a:schemeClr val="dk1"/>
                        </a:solidFill>
                        <a:latin typeface="+mj-lt"/>
                        <a:ea typeface="Georgia"/>
                        <a:cs typeface="Georgia"/>
                        <a:sym typeface="Georgia"/>
                      </a:endParaRPr>
                    </a:p>
                    <a:p>
                      <a:pPr marL="0" marR="0" lvl="1" indent="0" algn="l" defTabSz="914400" rtl="0" eaLnBrk="1" fontAlgn="auto" latinLnBrk="0" hangingPunct="1">
                        <a:lnSpc>
                          <a:spcPct val="100000"/>
                        </a:lnSpc>
                        <a:spcBef>
                          <a:spcPts val="0"/>
                        </a:spcBef>
                        <a:spcAft>
                          <a:spcPts val="0"/>
                        </a:spcAft>
                        <a:buClr>
                          <a:schemeClr val="dk1"/>
                        </a:buClr>
                        <a:buSzPct val="25000"/>
                        <a:buFont typeface="Georgia"/>
                        <a:buNone/>
                        <a:tabLst/>
                        <a:defRPr/>
                      </a:pPr>
                      <a:r>
                        <a:rPr lang="en-US" sz="900" u="none" strike="noStrike" kern="1200" cap="none" baseline="0" dirty="0" smtClean="0">
                          <a:solidFill>
                            <a:schemeClr val="dk1"/>
                          </a:solidFill>
                          <a:latin typeface="+mj-lt"/>
                          <a:ea typeface="Georgia"/>
                          <a:cs typeface="Georgia"/>
                          <a:sym typeface="Georgia"/>
                        </a:rPr>
                        <a:t>Prior to joining PwC, Dom has had 5 years of industry experience working for a large global bank where he specialized in client services and operations across several groups and asset classes.  Dom received his B.S. in Finance from Rutgers University and holds an MBA from Carnegie Mellon University – </a:t>
                      </a:r>
                      <a:r>
                        <a:rPr lang="en-US" sz="900" u="none" strike="noStrike" kern="1200" cap="none" baseline="0" dirty="0" err="1" smtClean="0">
                          <a:solidFill>
                            <a:schemeClr val="dk1"/>
                          </a:solidFill>
                          <a:latin typeface="+mj-lt"/>
                          <a:ea typeface="Georgia"/>
                          <a:cs typeface="Georgia"/>
                          <a:sym typeface="Georgia"/>
                        </a:rPr>
                        <a:t>Tepper</a:t>
                      </a:r>
                      <a:r>
                        <a:rPr lang="en-US" sz="900" u="none" strike="noStrike" kern="1200" cap="none" baseline="0" dirty="0" smtClean="0">
                          <a:solidFill>
                            <a:schemeClr val="dk1"/>
                          </a:solidFill>
                          <a:latin typeface="+mj-lt"/>
                          <a:ea typeface="Georgia"/>
                          <a:cs typeface="Georgia"/>
                          <a:sym typeface="Georgia"/>
                        </a:rPr>
                        <a:t> School of Business where he concentrated in Finance, Economics and Information Systems</a:t>
                      </a:r>
                    </a:p>
                    <a:p>
                      <a:pPr marL="0" marR="0" lvl="1" indent="0" algn="l" defTabSz="914400" rtl="0" eaLnBrk="1" fontAlgn="auto" latinLnBrk="0" hangingPunct="1">
                        <a:lnSpc>
                          <a:spcPct val="100000"/>
                        </a:lnSpc>
                        <a:spcBef>
                          <a:spcPts val="0"/>
                        </a:spcBef>
                        <a:spcAft>
                          <a:spcPts val="0"/>
                        </a:spcAft>
                        <a:buClr>
                          <a:schemeClr val="dk1"/>
                        </a:buClr>
                        <a:buSzPct val="25000"/>
                        <a:buFont typeface="Georgia"/>
                        <a:buNone/>
                        <a:tabLst/>
                        <a:defRPr/>
                      </a:pPr>
                      <a:endParaRPr lang="en-US" sz="900" u="none" strike="noStrike" kern="1200" cap="none" baseline="0" dirty="0" smtClean="0">
                        <a:solidFill>
                          <a:schemeClr val="dk1"/>
                        </a:solidFill>
                        <a:latin typeface="+mj-lt"/>
                        <a:ea typeface="Georgia"/>
                        <a:cs typeface="Georgia"/>
                        <a:sym typeface="Georgia"/>
                      </a:endParaRPr>
                    </a:p>
                    <a:p>
                      <a:pPr marL="0" marR="0" lvl="1" indent="0" algn="l" defTabSz="914400" rtl="0" eaLnBrk="1" fontAlgn="auto" latinLnBrk="0" hangingPunct="1">
                        <a:lnSpc>
                          <a:spcPct val="100000"/>
                        </a:lnSpc>
                        <a:spcBef>
                          <a:spcPts val="0"/>
                        </a:spcBef>
                        <a:spcAft>
                          <a:spcPts val="0"/>
                        </a:spcAft>
                        <a:buClr>
                          <a:schemeClr val="dk1"/>
                        </a:buClr>
                        <a:buSzPct val="25000"/>
                        <a:buFont typeface="Georgia"/>
                        <a:buNone/>
                        <a:tabLst/>
                        <a:defRPr/>
                      </a:pPr>
                      <a:r>
                        <a:rPr lang="en-US" sz="900" u="none" strike="noStrike" kern="1200" cap="none" baseline="0" dirty="0" smtClean="0">
                          <a:solidFill>
                            <a:schemeClr val="dk1"/>
                          </a:solidFill>
                          <a:latin typeface="+mn-lt"/>
                          <a:ea typeface="Georgia"/>
                          <a:cs typeface="Georgia"/>
                          <a:sym typeface="Georgia"/>
                        </a:rPr>
                        <a:t>Relevant Experience</a:t>
                      </a:r>
                    </a:p>
                    <a:p>
                      <a:pPr marL="171450" marR="0" lvl="1" indent="-171450" algn="l" defTabSz="914400" rtl="0" eaLnBrk="1" fontAlgn="auto" latinLnBrk="0" hangingPunct="1">
                        <a:lnSpc>
                          <a:spcPct val="100000"/>
                        </a:lnSpc>
                        <a:spcBef>
                          <a:spcPts val="0"/>
                        </a:spcBef>
                        <a:spcAft>
                          <a:spcPts val="0"/>
                        </a:spcAft>
                        <a:buClr>
                          <a:schemeClr val="dk1"/>
                        </a:buClr>
                        <a:buSzPct val="100000"/>
                        <a:buFont typeface="Arial" panose="020B0604020202020204" pitchFamily="34" charset="0"/>
                        <a:buChar char="•"/>
                        <a:tabLst/>
                        <a:defRPr/>
                      </a:pPr>
                      <a:r>
                        <a:rPr lang="en-US" sz="900" u="none" strike="noStrike" kern="1200" cap="none" baseline="0" dirty="0" smtClean="0">
                          <a:solidFill>
                            <a:schemeClr val="dk1"/>
                          </a:solidFill>
                          <a:latin typeface="+mn-lt"/>
                          <a:ea typeface="Georgia"/>
                          <a:cs typeface="Georgia"/>
                          <a:sym typeface="Georgia"/>
                        </a:rPr>
                        <a:t>Conducted a impact assessment for a large discount brokerage, leading a </a:t>
                      </a:r>
                      <a:r>
                        <a:rPr lang="en-US" sz="900" u="none" strike="noStrike" kern="1200" cap="none" baseline="0" dirty="0" err="1" smtClean="0">
                          <a:solidFill>
                            <a:schemeClr val="dk1"/>
                          </a:solidFill>
                          <a:latin typeface="+mn-lt"/>
                          <a:ea typeface="Georgia"/>
                          <a:cs typeface="Georgia"/>
                          <a:sym typeface="Georgia"/>
                        </a:rPr>
                        <a:t>workstream</a:t>
                      </a:r>
                      <a:r>
                        <a:rPr lang="en-US" sz="900" u="none" strike="noStrike" kern="1200" cap="none" baseline="0" dirty="0" smtClean="0">
                          <a:solidFill>
                            <a:schemeClr val="dk1"/>
                          </a:solidFill>
                          <a:latin typeface="+mn-lt"/>
                          <a:ea typeface="Georgia"/>
                          <a:cs typeface="Georgia"/>
                          <a:sym typeface="Georgia"/>
                        </a:rPr>
                        <a:t> to identify growth opportunities related to the DOL Fiduciary Rule</a:t>
                      </a:r>
                    </a:p>
                    <a:p>
                      <a:pPr marL="171450" marR="0" lvl="1" indent="-171450" algn="l" defTabSz="914400" rtl="0" eaLnBrk="1" fontAlgn="auto" latinLnBrk="0" hangingPunct="1">
                        <a:lnSpc>
                          <a:spcPct val="100000"/>
                        </a:lnSpc>
                        <a:spcBef>
                          <a:spcPts val="0"/>
                        </a:spcBef>
                        <a:spcAft>
                          <a:spcPts val="0"/>
                        </a:spcAft>
                        <a:buClr>
                          <a:schemeClr val="dk1"/>
                        </a:buClr>
                        <a:buSzPct val="100000"/>
                        <a:buFont typeface="Arial" panose="020B0604020202020204" pitchFamily="34" charset="0"/>
                        <a:buChar char="•"/>
                        <a:tabLst/>
                        <a:defRPr/>
                      </a:pPr>
                      <a:r>
                        <a:rPr lang="en-US" sz="900" u="none" strike="noStrike" kern="1200" cap="none" baseline="0" dirty="0" smtClean="0">
                          <a:solidFill>
                            <a:schemeClr val="dk1"/>
                          </a:solidFill>
                          <a:latin typeface="+mn-lt"/>
                          <a:ea typeface="Georgia"/>
                          <a:cs typeface="Georgia"/>
                          <a:sym typeface="Georgia"/>
                        </a:rPr>
                        <a:t>Managed a work stream for a large global banking client, developing business requirement documents (BRDs) to guide the firm during its transformation to a new regulatory reporting platform</a:t>
                      </a:r>
                    </a:p>
                    <a:p>
                      <a:pPr marL="171450" marR="0" lvl="1" indent="-171450" algn="l" defTabSz="914400" rtl="0" eaLnBrk="1" fontAlgn="auto" latinLnBrk="0" hangingPunct="1">
                        <a:lnSpc>
                          <a:spcPct val="100000"/>
                        </a:lnSpc>
                        <a:spcBef>
                          <a:spcPts val="0"/>
                        </a:spcBef>
                        <a:spcAft>
                          <a:spcPts val="0"/>
                        </a:spcAft>
                        <a:buClr>
                          <a:schemeClr val="dk1"/>
                        </a:buClr>
                        <a:buSzPct val="100000"/>
                        <a:buFont typeface="Arial" panose="020B0604020202020204" pitchFamily="34" charset="0"/>
                        <a:buChar char="•"/>
                        <a:tabLst/>
                        <a:defRPr/>
                      </a:pPr>
                      <a:r>
                        <a:rPr lang="en-US" sz="900" u="none" strike="noStrike" kern="1200" cap="none" baseline="0" dirty="0" smtClean="0">
                          <a:solidFill>
                            <a:schemeClr val="dk1"/>
                          </a:solidFill>
                          <a:latin typeface="+mn-lt"/>
                          <a:ea typeface="Georgia"/>
                          <a:cs typeface="Georgia"/>
                          <a:sym typeface="Georgia"/>
                        </a:rPr>
                        <a:t>Provided analysis and built exhibits for a large global investment banking client, used in the structuring of a Resolution Plan or “living will’ required of institutions posing a potential risk to the financial system </a:t>
                      </a:r>
                    </a:p>
                  </a:txBody>
                  <a:tcPr marL="26620" marR="26620" marT="17738" marB="26620" anchor="ctr">
                    <a:lnL w="9525" cap="flat" cmpd="sng" algn="ctr">
                      <a:solidFill>
                        <a:srgbClr val="000000">
                          <a:alpha val="0"/>
                        </a:srgbClr>
                      </a:solidFill>
                      <a:prstDash val="solid"/>
                      <a:round/>
                      <a:headEnd type="none" w="med" len="med"/>
                      <a:tailEnd type="none" w="med" len="med"/>
                    </a:lnL>
                    <a:lnR w="9525" cap="flat">
                      <a:solidFill>
                        <a:srgbClr val="000000">
                          <a:alpha val="0"/>
                        </a:srgbClr>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lt1"/>
                    </a:solidFill>
                  </a:tcPr>
                </a:tc>
              </a:tr>
            </a:tbl>
          </a:graphicData>
        </a:graphic>
      </p:graphicFrame>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4585" r="9716" b="32501"/>
          <a:stretch/>
        </p:blipFill>
        <p:spPr>
          <a:xfrm>
            <a:off x="1981199" y="1096962"/>
            <a:ext cx="937290" cy="914400"/>
          </a:xfrm>
          <a:prstGeom prst="rect">
            <a:avLst/>
          </a:prstGeom>
        </p:spPr>
      </p:pic>
    </p:spTree>
    <p:extLst>
      <p:ext uri="{BB962C8B-B14F-4D97-AF65-F5344CB8AC3E}">
        <p14:creationId xmlns:p14="http://schemas.microsoft.com/office/powerpoint/2010/main" val="12582129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0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254</Words>
  <Application>Microsoft Office PowerPoint</Application>
  <PresentationFormat>Widescreen</PresentationFormat>
  <Paragraphs>17</Paragraphs>
  <Slides>1</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6" baseType="lpstr">
      <vt:lpstr>Arial</vt:lpstr>
      <vt:lpstr>Arial Narrow</vt:lpstr>
      <vt:lpstr>Georgia</vt:lpstr>
      <vt:lpstr>10_Content</vt:lpstr>
      <vt:lpstr>think-cell Slide</vt:lpstr>
      <vt:lpstr>Team Introductions</vt:lpstr>
    </vt:vector>
  </TitlesOfParts>
  <Company>PricewaterhouseCoopers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Introductions</dc:title>
  <dc:creator>Jordan M Norwood</dc:creator>
  <cp:lastModifiedBy>Dominic A Mangonon</cp:lastModifiedBy>
  <cp:revision>13</cp:revision>
  <dcterms:created xsi:type="dcterms:W3CDTF">2016-07-06T14:23:58Z</dcterms:created>
  <dcterms:modified xsi:type="dcterms:W3CDTF">2016-07-07T03:08:11Z</dcterms:modified>
</cp:coreProperties>
</file>